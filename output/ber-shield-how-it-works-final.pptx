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8b345a93e4f81" /><Relationship Type="http://schemas.openxmlformats.org/officeDocument/2006/relationships/extended-properties" Target="/docProps/app.xml" Id="R25e97c4f2cd64a1f" /><Relationship Type="http://schemas.openxmlformats.org/officeDocument/2006/relationships/officeDocument" Target="/ppt/presentation.xml" Id="R7f5731111d5d46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ff5dd6caa43f9"/>
  </p:sldMasterIdLst>
  <p:notesMasterIdLst>
    <p:notesMasterId xmlns:r="http://schemas.openxmlformats.org/officeDocument/2006/relationships" r:id="R40ba5b21be8e46d2"/>
  </p:notesMasterIdLst>
  <p:sldIdLst>
    <p:sldId xmlns:r="http://schemas.openxmlformats.org/officeDocument/2006/relationships" id="256" r:id="Rab73444596684d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45f5d2add44702" /><Relationship Type="http://schemas.openxmlformats.org/officeDocument/2006/relationships/slideMaster" Target="/ppt/slideMasters/slideMaster1.xml" Id="R743ff5dd6caa43f9" /><Relationship Type="http://schemas.openxmlformats.org/officeDocument/2006/relationships/notesMaster" Target="/ppt/notesMasters/notesMaster1.xml" Id="R40ba5b21be8e46d2" /><Relationship Type="http://schemas.openxmlformats.org/officeDocument/2006/relationships/presProps" Target="/ppt/presProps.xml" Id="R0b49e477d92442fb" /><Relationship Type="http://schemas.openxmlformats.org/officeDocument/2006/relationships/tableStyles" Target="/ppt/tableStyles.xml" Id="R1b8c846a511d447a" /><Relationship Type="http://schemas.openxmlformats.org/officeDocument/2006/relationships/slide" Target="/ppt/slides/slide1.xml" Id="Rab73444596684d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091a58908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7c69012beb4e98" /><Relationship Type="http://schemas.openxmlformats.org/officeDocument/2006/relationships/notesMaster" Target="/ppt/notesMasters/notesMaster1.xml" Id="Rc874e271f92e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 Shield demo architecture. All technologies and controls reflect the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30867b982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25aa3175a4815" /><Relationship Type="http://schemas.openxmlformats.org/officeDocument/2006/relationships/slideLayout" Target="/ppt/slideLayouts/slideLayout1.xml" Id="R0b7f2e26a4b04d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f2e26a4b04d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f0ca26968478b" /><Relationship Type="http://schemas.openxmlformats.org/officeDocument/2006/relationships/notesSlide" Target="/ppt/notesSlides/notesSlide1.xml" Id="Rd7dc1dc45ae2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9FA17F5-6F6E-4B4F-887B-79ACB485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7E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7E81"/>
                </a:solidFill>
                <a:latin typeface="Arial"/>
                <a:ea typeface="Arial"/>
                <a:cs typeface="Arial"/>
              </a:rPr>
              <a:t>07 · HOW IT WORKS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C2020E-D690-40A2-B8A6-76C530E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590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24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How BER Shield works</a:t>
            </a:r>
          </a:p>
        </p:txBody>
      </p:sp>
      <p:sp>
        <p:nvSpPr>
          <p:cNvPr id="3" name="time-badge">
            <a:extLst xmlns:a="http://schemas.openxmlformats.org/drawingml/2006/main">
              <a:ext uri="{FF2B5EF4-FFF2-40B4-BE49-F238E27FC236}">
                <a16:creationId xmlns:a16="http://schemas.microsoft.com/office/drawing/2014/main" id="{B8045C02-A8B2-48DA-A473-5BCF8B6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4325"/>
            <a:ext cx="704850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22D"/>
          </a:solidFill>
          <a:ln xmlns:a="http://schemas.openxmlformats.org/drawingml/2006/main" w="9525">
            <a:solidFill>
              <a:srgbClr val="18222D"/>
            </a:solidFill>
            <a:prstDash val="solid"/>
          </a:ln>
        </p:spPr>
      </p:sp>
      <p:sp>
        <p:nvSpPr>
          <p:cNvPr id="4" name="time-text">
            <a:extLst xmlns:a="http://schemas.openxmlformats.org/drawingml/2006/main">
              <a:ext uri="{FF2B5EF4-FFF2-40B4-BE49-F238E27FC236}">
                <a16:creationId xmlns:a16="http://schemas.microsoft.com/office/drawing/2014/main" id="{3262F897-BB0B-4D6C-B88E-6E4C864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0:10</a:t>
            </a:r>
          </a:p>
        </p:txBody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C8905098-028C-43B8-91BF-D9C6151C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6" name="flow-text-1">
            <a:extLst xmlns:a="http://schemas.openxmlformats.org/drawingml/2006/main">
              <a:ext uri="{FF2B5EF4-FFF2-40B4-BE49-F238E27FC236}">
                <a16:creationId xmlns:a16="http://schemas.microsoft.com/office/drawing/2014/main" id="{638E7080-D0A4-48B1-9D2D-29A09B2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Broker portal activity</a:t>
            </a:r>
          </a:p>
        </p:txBody>
      </p:sp>
      <p:sp>
        <p:nvSpPr>
          <p:cNvPr id="7" name="flow-2">
            <a:extLst xmlns:a="http://schemas.openxmlformats.org/drawingml/2006/main">
              <a:ext uri="{FF2B5EF4-FFF2-40B4-BE49-F238E27FC236}">
                <a16:creationId xmlns:a16="http://schemas.microsoft.com/office/drawing/2014/main" id="{88DDA725-6C8B-4EFA-BBCA-8273E77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8" name="flow-text-2">
            <a:extLst xmlns:a="http://schemas.openxmlformats.org/drawingml/2006/main">
              <a:ext uri="{FF2B5EF4-FFF2-40B4-BE49-F238E27FC236}">
                <a16:creationId xmlns:a16="http://schemas.microsoft.com/office/drawing/2014/main" id="{0A845211-72CC-477F-B9CB-ED516D8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Signal correlation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and risk scoring</a:t>
            </a:r>
          </a:p>
        </p:txBody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4F7ED636-8B77-437D-B62A-D2D39CC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0" name="flow-text-3">
            <a:extLst xmlns:a="http://schemas.openxmlformats.org/drawingml/2006/main">
              <a:ext uri="{FF2B5EF4-FFF2-40B4-BE49-F238E27FC236}">
                <a16:creationId xmlns:a16="http://schemas.microsoft.com/office/drawing/2014/main" id="{7CFA473A-AF83-42A5-9924-87F4C24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Alert, review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and response</a:t>
            </a:r>
          </a:p>
        </p:txBody>
      </p:sp>
      <p:sp>
        <p:nvSpPr>
          <p:cNvPr id="11" name="flow-4">
            <a:extLst xmlns:a="http://schemas.openxmlformats.org/drawingml/2006/main">
              <a:ext uri="{FF2B5EF4-FFF2-40B4-BE49-F238E27FC236}">
                <a16:creationId xmlns:a16="http://schemas.microsoft.com/office/drawing/2014/main" id="{1053A215-BB82-4E59-89E2-0AE79A31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914525"/>
            <a:ext cx="2324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0D9F6AF2-6275-4A40-862F-B325C8E5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955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BER Shield</a:t>
            </a:r>
          </a:p>
          <a:p xmlns:a="http://schemas.openxmlformats.org/drawingml/2006/main">
            <a:pPr>
              <a:defRPr sz="120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9562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1027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24925" y="22669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C8B"/>
            </a:solidFill>
            <a:prstDash val="solid"/>
            <a:tailEnd type="arrow" w="med" len="med"/>
          </a:ln>
        </p:spPr>
      </p:cxnSp>
      <p:sp>
        <p:nvSpPr>
          <p:cNvPr id="16" name="built-with">
            <a:extLst xmlns:a="http://schemas.openxmlformats.org/drawingml/2006/main">
              <a:ext uri="{FF2B5EF4-FFF2-40B4-BE49-F238E27FC236}">
                <a16:creationId xmlns:a16="http://schemas.microsoft.com/office/drawing/2014/main" id="{2FB906C6-27BD-4682-952B-D1DD4EC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5124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17" name="built-with-title">
            <a:extLst xmlns:a="http://schemas.openxmlformats.org/drawingml/2006/main">
              <a:ext uri="{FF2B5EF4-FFF2-40B4-BE49-F238E27FC236}">
                <a16:creationId xmlns:a16="http://schemas.microsoft.com/office/drawing/2014/main" id="{FF0B32A6-452F-4D00-B449-CA1F7B5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05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22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222D"/>
                </a:solidFill>
                <a:latin typeface="Arial"/>
                <a:ea typeface="Arial"/>
                <a:cs typeface="Arial"/>
              </a:rPr>
              <a:t>Built with</a:t>
            </a:r>
          </a:p>
        </p:txBody>
      </p:sp>
      <p:sp>
        <p:nvSpPr>
          <p:cNvPr id="18" name="built-with-body">
            <a:extLst xmlns:a="http://schemas.openxmlformats.org/drawingml/2006/main">
              <a:ext uri="{FF2B5EF4-FFF2-40B4-BE49-F238E27FC236}">
                <a16:creationId xmlns:a16="http://schemas.microsoft.com/office/drawing/2014/main" id="{9BDDC3FA-AC9C-422D-B3D1-C2421778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B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B68"/>
                </a:solidFill>
                <a:latin typeface="Arial"/>
                <a:ea typeface="Arial"/>
                <a:cs typeface="Arial"/>
              </a:rPr>
              <a:t>React · Vite · Node/Express · local Qwen</a:t>
            </a:r>
          </a:p>
        </p:txBody>
      </p:sp>
      <p:sp>
        <p:nvSpPr>
          <p:cNvPr id="19" name="security">
            <a:extLst xmlns:a="http://schemas.openxmlformats.org/drawingml/2006/main">
              <a:ext uri="{FF2B5EF4-FFF2-40B4-BE49-F238E27FC236}">
                <a16:creationId xmlns:a16="http://schemas.microsoft.com/office/drawing/2014/main" id="{067FA1AD-C618-47E6-9B26-FF605CD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5124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5"/>
            </a:solidFill>
            <a:prstDash val="solid"/>
          </a:ln>
        </p:spPr>
      </p:sp>
      <p:sp>
        <p:nvSpPr>
          <p:cNvPr id="20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73AC1237-0572-41E6-B349-80AAD9C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05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22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222D"/>
                </a:solidFill>
                <a:latin typeface="Arial"/>
                <a:ea typeface="Arial"/>
                <a:cs typeface="Arial"/>
              </a:rPr>
              <a:t>Securing our own product</a:t>
            </a:r>
          </a:p>
        </p:txBody>
      </p:sp>
      <p:sp>
        <p:nvSpPr>
          <p:cNvPr id="21" name="security-body">
            <a:extLst xmlns:a="http://schemas.openxmlformats.org/drawingml/2006/main">
              <a:ext uri="{FF2B5EF4-FFF2-40B4-BE49-F238E27FC236}">
                <a16:creationId xmlns:a16="http://schemas.microsoft.com/office/drawing/2014/main" id="{D8BCF3C8-DF6D-45A4-BF6C-C7957FF5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B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B68"/>
                </a:solidFill>
                <a:latin typeface="Arial"/>
                <a:ea typeface="Arial"/>
                <a:cs typeface="Arial"/>
              </a:rPr>
              <a:t>Demo data · local inference · human approval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FEE12CF6-9635-4CC6-A017-48E0EA92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9775"/>
            <a:ext cx="866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74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47C"/>
                </a:solidFill>
                <a:latin typeface="Arial"/>
                <a:ea typeface="Arial"/>
                <a:cs typeface="Arial"/>
              </a:rPr>
              <a:t>Broker account changes are correlated across activity, click behavior, and driver communication before an investigator responds.</a:t>
            </a:r>
          </a:p>
        </p:txBody>
      </p:sp>
    </p:spTree>
    <p:extLst>
      <p:ext uri="{BB962C8B-B14F-4D97-AF65-F5344CB8AC3E}">
        <p14:creationId xmlns:p14="http://schemas.microsoft.com/office/powerpoint/2010/main" val="4808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2026-09-27T10:21:36.8350000Z</dcterms:created>
  <dcterms:modified xsi:type="dcterms:W3CDTF">2026-09-27T10:21:36.8350000Z</dcterms:modified>
</coreProperties>
</file>