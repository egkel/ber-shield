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74735a6cfe491e" /><Relationship Type="http://schemas.openxmlformats.org/officeDocument/2006/relationships/extended-properties" Target="/docProps/app.xml" Id="R3bc08f0a3ac14cd6" /><Relationship Type="http://schemas.openxmlformats.org/officeDocument/2006/relationships/officeDocument" Target="/ppt/presentation.xml" Id="R9028d51e662348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23b2e1645c4307"/>
  </p:sldMasterIdLst>
  <p:notesMasterIdLst>
    <p:notesMasterId xmlns:r="http://schemas.openxmlformats.org/officeDocument/2006/relationships" r:id="Rd5f2d61552524648"/>
  </p:notesMasterIdLst>
  <p:sldIdLst>
    <p:sldId xmlns:r="http://schemas.openxmlformats.org/officeDocument/2006/relationships" id="256" r:id="Rb49c5c1e77514e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642a45c04e4c79" /><Relationship Type="http://schemas.openxmlformats.org/officeDocument/2006/relationships/slideMaster" Target="/ppt/slideMasters/slideMaster1.xml" Id="Rca23b2e1645c4307" /><Relationship Type="http://schemas.openxmlformats.org/officeDocument/2006/relationships/notesMaster" Target="/ppt/notesMasters/notesMaster1.xml" Id="Rd5f2d61552524648" /><Relationship Type="http://schemas.openxmlformats.org/officeDocument/2006/relationships/presProps" Target="/ppt/presProps.xml" Id="R39a7aecbf1d24930" /><Relationship Type="http://schemas.openxmlformats.org/officeDocument/2006/relationships/tableStyles" Target="/ppt/tableStyles.xml" Id="Rf9949f4652e14430" /><Relationship Type="http://schemas.openxmlformats.org/officeDocument/2006/relationships/slide" Target="/ppt/slides/slide1.xml" Id="Rb49c5c1e77514e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a79c2323604d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49f6196ef24827" /><Relationship Type="http://schemas.openxmlformats.org/officeDocument/2006/relationships/notesMaster" Target="/ppt/notesMasters/notesMaster1.xml" Id="R686fe66ea61749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BER Shield demo architecture. All technologies and controls reflect the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d1039266ed42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63726ed4b64c0b" /><Relationship Type="http://schemas.openxmlformats.org/officeDocument/2006/relationships/slideLayout" Target="/ppt/slideLayouts/slideLayout1.xml" Id="Rf84d37dd452d42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4d37dd452d42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4f4bbcd5b4a7b" /><Relationship Type="http://schemas.openxmlformats.org/officeDocument/2006/relationships/notesSlide" Target="/ppt/notesSlides/notesSlide1.xml" Id="Rf513f8e6e10043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E9C080C-3D13-4509-95DB-7849C928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7E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7E81"/>
                </a:solidFill>
                <a:latin typeface="Arial"/>
                <a:ea typeface="Arial"/>
                <a:cs typeface="Arial"/>
              </a:rPr>
              <a:t>07 · HOW IT WORKS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73B46EA-D0E5-454E-9A6F-1A3F2E02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590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243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51C27"/>
                </a:solidFill>
                <a:latin typeface="Arial"/>
                <a:ea typeface="Arial"/>
                <a:cs typeface="Arial"/>
              </a:rPr>
              <a:t>How BER Shield works</a:t>
            </a:r>
          </a:p>
        </p:txBody>
      </p:sp>
      <p:sp>
        <p:nvSpPr>
          <p:cNvPr id="3" name="time-badge">
            <a:extLst xmlns:a="http://schemas.openxmlformats.org/drawingml/2006/main">
              <a:ext uri="{FF2B5EF4-FFF2-40B4-BE49-F238E27FC236}">
                <a16:creationId xmlns:a16="http://schemas.microsoft.com/office/drawing/2014/main" id="{17B5E920-22A1-424B-98F8-6CB37C47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14325"/>
            <a:ext cx="704850" cy="333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22D"/>
          </a:solidFill>
          <a:ln xmlns:a="http://schemas.openxmlformats.org/drawingml/2006/main" w="9525">
            <a:solidFill>
              <a:srgbClr val="18222D"/>
            </a:solidFill>
            <a:prstDash val="solid"/>
          </a:ln>
        </p:spPr>
      </p:sp>
      <p:sp>
        <p:nvSpPr>
          <p:cNvPr id="4" name="time-text">
            <a:extLst xmlns:a="http://schemas.openxmlformats.org/drawingml/2006/main">
              <a:ext uri="{FF2B5EF4-FFF2-40B4-BE49-F238E27FC236}">
                <a16:creationId xmlns:a16="http://schemas.microsoft.com/office/drawing/2014/main" id="{FE3A13C2-61C0-4D3C-889C-3BD5371A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0:10</a:t>
            </a:r>
          </a:p>
        </p:txBody>
      </p:sp>
      <p:sp>
        <p:nvSpPr>
          <p:cNvPr id="5" name="flow-1">
            <a:extLst xmlns:a="http://schemas.openxmlformats.org/drawingml/2006/main">
              <a:ext uri="{FF2B5EF4-FFF2-40B4-BE49-F238E27FC236}">
                <a16:creationId xmlns:a16="http://schemas.microsoft.com/office/drawing/2014/main" id="{A0B88167-E613-4A09-9391-01A9AD63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914525"/>
            <a:ext cx="23241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5"/>
            </a:solidFill>
            <a:prstDash val="solid"/>
          </a:ln>
        </p:spPr>
      </p:sp>
      <p:sp>
        <p:nvSpPr>
          <p:cNvPr id="6" name="flow-text-1">
            <a:extLst xmlns:a="http://schemas.openxmlformats.org/drawingml/2006/main">
              <a:ext uri="{FF2B5EF4-FFF2-40B4-BE49-F238E27FC236}">
                <a16:creationId xmlns:a16="http://schemas.microsoft.com/office/drawing/2014/main" id="{16B4CF8C-12B2-4265-9430-51F5DFAE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955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Broker portal activity</a:t>
            </a:r>
          </a:p>
        </p:txBody>
      </p:sp>
      <p:sp>
        <p:nvSpPr>
          <p:cNvPr id="7" name="flow-2">
            <a:extLst xmlns:a="http://schemas.openxmlformats.org/drawingml/2006/main">
              <a:ext uri="{FF2B5EF4-FFF2-40B4-BE49-F238E27FC236}">
                <a16:creationId xmlns:a16="http://schemas.microsoft.com/office/drawing/2014/main" id="{1CDA51DA-6189-4D1E-87C6-C42B8B92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914525"/>
            <a:ext cx="23241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5"/>
            </a:solidFill>
            <a:prstDash val="solid"/>
          </a:ln>
        </p:spPr>
      </p:sp>
      <p:sp>
        <p:nvSpPr>
          <p:cNvPr id="8" name="flow-text-2">
            <a:extLst xmlns:a="http://schemas.openxmlformats.org/drawingml/2006/main">
              <a:ext uri="{FF2B5EF4-FFF2-40B4-BE49-F238E27FC236}">
                <a16:creationId xmlns:a16="http://schemas.microsoft.com/office/drawing/2014/main" id="{037248C1-938F-48DD-9044-F548D7A3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955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95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Signal correlation</a:t>
            </a:r>
          </a:p>
          <a:p xmlns:a="http://schemas.openxmlformats.org/drawingml/2006/main">
            <a:pPr>
              <a:defRPr sz="120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and risk scoring</a:t>
            </a:r>
          </a:p>
        </p:txBody>
      </p:sp>
      <p:sp>
        <p:nvSpPr>
          <p:cNvPr id="9" name="flow-3">
            <a:extLst xmlns:a="http://schemas.openxmlformats.org/drawingml/2006/main">
              <a:ext uri="{FF2B5EF4-FFF2-40B4-BE49-F238E27FC236}">
                <a16:creationId xmlns:a16="http://schemas.microsoft.com/office/drawing/2014/main" id="{898BCECF-97CA-447C-87DD-566743AA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914525"/>
            <a:ext cx="23241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5"/>
            </a:solidFill>
            <a:prstDash val="solid"/>
          </a:ln>
        </p:spPr>
      </p:sp>
      <p:sp>
        <p:nvSpPr>
          <p:cNvPr id="10" name="flow-text-3">
            <a:extLst xmlns:a="http://schemas.openxmlformats.org/drawingml/2006/main">
              <a:ext uri="{FF2B5EF4-FFF2-40B4-BE49-F238E27FC236}">
                <a16:creationId xmlns:a16="http://schemas.microsoft.com/office/drawing/2014/main" id="{CE99AB28-D6C0-466C-AC0D-68C3A7F4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0955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95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Alert, review</a:t>
            </a:r>
          </a:p>
          <a:p xmlns:a="http://schemas.openxmlformats.org/drawingml/2006/main">
            <a:pPr>
              <a:defRPr sz="120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and response</a:t>
            </a:r>
          </a:p>
        </p:txBody>
      </p:sp>
      <p:sp>
        <p:nvSpPr>
          <p:cNvPr id="11" name="flow-4">
            <a:extLst xmlns:a="http://schemas.openxmlformats.org/drawingml/2006/main">
              <a:ext uri="{FF2B5EF4-FFF2-40B4-BE49-F238E27FC236}">
                <a16:creationId xmlns:a16="http://schemas.microsoft.com/office/drawing/2014/main" id="{89CBDF33-3FC4-4923-8FFE-00F2EF2B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914525"/>
            <a:ext cx="23241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5"/>
            </a:solidFill>
            <a:prstDash val="solid"/>
          </a:ln>
        </p:spPr>
      </p:sp>
      <p:sp>
        <p:nvSpPr>
          <p:cNvPr id="12" name="flow-text-4">
            <a:extLst xmlns:a="http://schemas.openxmlformats.org/drawingml/2006/main">
              <a:ext uri="{FF2B5EF4-FFF2-40B4-BE49-F238E27FC236}">
                <a16:creationId xmlns:a16="http://schemas.microsoft.com/office/drawing/2014/main" id="{9875257D-7248-4C67-9C7B-0F3BA7B8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0955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95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BER Shield</a:t>
            </a:r>
          </a:p>
          <a:p xmlns:a="http://schemas.openxmlformats.org/drawingml/2006/main">
            <a:pPr>
              <a:defRPr sz="120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95625" y="22669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8C8B"/>
            </a:solidFill>
            <a:prstDash val="solid"/>
            <a:headEnd type="arrow" w="med" len="med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010275" y="22669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8C8B"/>
            </a:solidFill>
            <a:prstDash val="solid"/>
            <a:headEnd type="arrow" w="med" len="med"/>
          </a:ln>
        </p:spPr>
      </p:cxn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924925" y="22669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8C8B"/>
            </a:solidFill>
            <a:prstDash val="solid"/>
            <a:headEnd type="arrow" w="med" len="med"/>
          </a:ln>
        </p:spPr>
      </p:cxnSp>
      <p:sp>
        <p:nvSpPr>
          <p:cNvPr id="16" name="built-with">
            <a:extLst xmlns:a="http://schemas.openxmlformats.org/drawingml/2006/main">
              <a:ext uri="{FF2B5EF4-FFF2-40B4-BE49-F238E27FC236}">
                <a16:creationId xmlns:a16="http://schemas.microsoft.com/office/drawing/2014/main" id="{B92638CC-2E78-4FF3-9476-3D2AEA62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76575"/>
            <a:ext cx="5124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5"/>
            </a:solidFill>
            <a:prstDash val="solid"/>
          </a:ln>
        </p:spPr>
      </p:sp>
      <p:sp>
        <p:nvSpPr>
          <p:cNvPr id="17" name="built-with-title">
            <a:extLst xmlns:a="http://schemas.openxmlformats.org/drawingml/2006/main">
              <a:ext uri="{FF2B5EF4-FFF2-40B4-BE49-F238E27FC236}">
                <a16:creationId xmlns:a16="http://schemas.microsoft.com/office/drawing/2014/main" id="{B3BBFD44-86B7-4F5C-B090-F6AF69DA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305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9222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222D"/>
                </a:solidFill>
                <a:latin typeface="Arial"/>
                <a:ea typeface="Arial"/>
                <a:cs typeface="Arial"/>
              </a:rPr>
              <a:t>Built with</a:t>
            </a:r>
          </a:p>
        </p:txBody>
      </p:sp>
      <p:sp>
        <p:nvSpPr>
          <p:cNvPr id="18" name="built-with-body">
            <a:extLst xmlns:a="http://schemas.openxmlformats.org/drawingml/2006/main">
              <a:ext uri="{FF2B5EF4-FFF2-40B4-BE49-F238E27FC236}">
                <a16:creationId xmlns:a16="http://schemas.microsoft.com/office/drawing/2014/main" id="{9CCF3F3A-D657-4AF2-952D-F5709E35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638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F5B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B68"/>
                </a:solidFill>
                <a:latin typeface="Arial"/>
                <a:ea typeface="Arial"/>
                <a:cs typeface="Arial"/>
              </a:rPr>
              <a:t>React · Vite · Node/Express · local Qwen</a:t>
            </a:r>
          </a:p>
        </p:txBody>
      </p:sp>
      <p:sp>
        <p:nvSpPr>
          <p:cNvPr id="19" name="security">
            <a:extLst xmlns:a="http://schemas.openxmlformats.org/drawingml/2006/main">
              <a:ext uri="{FF2B5EF4-FFF2-40B4-BE49-F238E27FC236}">
                <a16:creationId xmlns:a16="http://schemas.microsoft.com/office/drawing/2014/main" id="{C3B712C7-6A4C-4FDB-8FBC-CDCAF8F6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76575"/>
            <a:ext cx="5124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5"/>
            </a:solidFill>
            <a:prstDash val="solid"/>
          </a:ln>
        </p:spPr>
      </p:sp>
      <p:sp>
        <p:nvSpPr>
          <p:cNvPr id="20" name="security-title">
            <a:extLst xmlns:a="http://schemas.openxmlformats.org/drawingml/2006/main">
              <a:ext uri="{FF2B5EF4-FFF2-40B4-BE49-F238E27FC236}">
                <a16:creationId xmlns:a16="http://schemas.microsoft.com/office/drawing/2014/main" id="{16F4BD94-356C-4D2E-9B6F-AEBF9F8C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305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9222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222D"/>
                </a:solidFill>
                <a:latin typeface="Arial"/>
                <a:ea typeface="Arial"/>
                <a:cs typeface="Arial"/>
              </a:rPr>
              <a:t>Securing our own product</a:t>
            </a:r>
          </a:p>
        </p:txBody>
      </p:sp>
      <p:sp>
        <p:nvSpPr>
          <p:cNvPr id="21" name="security-body">
            <a:extLst xmlns:a="http://schemas.openxmlformats.org/drawingml/2006/main">
              <a:ext uri="{FF2B5EF4-FFF2-40B4-BE49-F238E27FC236}">
                <a16:creationId xmlns:a16="http://schemas.microsoft.com/office/drawing/2014/main" id="{B53A196B-C18E-41C7-8B69-D87A8640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38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F5B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B68"/>
                </a:solidFill>
                <a:latin typeface="Arial"/>
                <a:ea typeface="Arial"/>
                <a:cs typeface="Arial"/>
              </a:rPr>
              <a:t>Demo data · local inference · human approval</a:t>
            </a:r>
          </a:p>
        </p:txBody>
      </p:sp>
      <p:sp>
        <p:nvSpPr>
          <p:cNvPr id="22" name="note">
            <a:extLst xmlns:a="http://schemas.openxmlformats.org/drawingml/2006/main">
              <a:ext uri="{FF2B5EF4-FFF2-40B4-BE49-F238E27FC236}">
                <a16:creationId xmlns:a16="http://schemas.microsoft.com/office/drawing/2014/main" id="{ADFB1697-45C6-47B5-802E-C4F044E1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19775"/>
            <a:ext cx="866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C74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C747C"/>
                </a:solidFill>
                <a:latin typeface="Arial"/>
                <a:ea typeface="Arial"/>
                <a:cs typeface="Arial"/>
              </a:rPr>
              <a:t>Broker account changes are correlated across activity, click behavior, and driver communication before an investigator responds.</a:t>
            </a:r>
          </a:p>
        </p:txBody>
      </p:sp>
    </p:spTree>
    <p:extLst>
      <p:ext uri="{BB962C8B-B14F-4D97-AF65-F5344CB8AC3E}">
        <p14:creationId xmlns:p14="http://schemas.microsoft.com/office/powerpoint/2010/main" val="2048360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2026-09-27T10:20:57.7280000Z</dcterms:created>
  <dcterms:modified xsi:type="dcterms:W3CDTF">2026-09-27T10:20:57.7280000Z</dcterms:modified>
</coreProperties>
</file>